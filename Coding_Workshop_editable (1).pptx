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8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84" r:id="rId14"/>
    <p:sldId id="264" r:id="rId15"/>
    <p:sldId id="265" r:id="rId16"/>
    <p:sldId id="28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86" r:id="rId25"/>
    <p:sldId id="273" r:id="rId26"/>
    <p:sldId id="274" r:id="rId27"/>
    <p:sldId id="275" r:id="rId28"/>
    <p:sldId id="276" r:id="rId29"/>
    <p:sldId id="277" r:id="rId30"/>
    <p:sldId id="287" r:id="rId31"/>
    <p:sldId id="278" r:id="rId32"/>
    <p:sldId id="279" r:id="rId33"/>
    <p:sldId id="280" r:id="rId34"/>
    <p:sldId id="281" r:id="rId35"/>
    <p:sldId id="282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9DDDD-C51A-EDD4-A3C3-E77582A1CA66}" v="549" dt="2026-04-29T06:32:41.039"/>
    <p1510:client id="{CF2002A9-92A8-7F4F-9DC2-D0A2D41F3727}" v="134" dt="2026-04-29T06:30:31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863DF-F4E3-4A7B-9360-FA3F27A87149}" type="datetimeFigureOut"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79A61-C184-48A9-A106-DE81311BC8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9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3630168"/>
            <a:ext cx="12191695" cy="4572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STEINBEIS UNIVERSITY  ·  SCHOOLS OF NEXT PRACTICES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0058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54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Science</a:t>
            </a:r>
            <a:endParaRPr lang="en-US" sz="5400"/>
          </a:p>
        </p:txBody>
      </p:sp>
      <p:sp>
        <p:nvSpPr>
          <p:cNvPr id="7" name="Text 4"/>
          <p:cNvSpPr/>
          <p:nvPr/>
        </p:nvSpPr>
        <p:spPr>
          <a:xfrm>
            <a:off x="502920" y="2834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coding workshop — Notebooks, Python fundamentals,</a:t>
            </a:r>
            <a:endParaRPr lang="en-US" sz="17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and real-world data analysis</a:t>
            </a:r>
            <a:endParaRPr lang="en-US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2DF33-A1F0-9260-C3B5-20008D394D88}"/>
              </a:ext>
            </a:extLst>
          </p:cNvPr>
          <p:cNvSpPr txBox="1"/>
          <p:nvPr/>
        </p:nvSpPr>
        <p:spPr>
          <a:xfrm>
            <a:off x="772885" y="925285"/>
            <a:ext cx="108748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>
                <a:ea typeface="Calibri"/>
                <a:cs typeface="Calibri"/>
              </a:rPr>
              <a:t>SCOPE + Timing</a:t>
            </a:r>
          </a:p>
        </p:txBody>
      </p:sp>
    </p:spTree>
    <p:extLst>
      <p:ext uri="{BB962C8B-B14F-4D97-AF65-F5344CB8AC3E}">
        <p14:creationId xmlns:p14="http://schemas.microsoft.com/office/powerpoint/2010/main" val="386015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26730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04088" y="1627632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704088" y="192024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50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&amp; the kernel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731520" y="2944368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868680" y="2852928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vs. Markdown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868680" y="3145536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3340532" y="1463040"/>
            <a:ext cx="26730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3541700" y="1627632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3541700" y="192024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500"/>
          </a:p>
        </p:txBody>
      </p:sp>
      <p:sp>
        <p:nvSpPr>
          <p:cNvPr id="16" name="Shape 13"/>
          <p:cNvSpPr/>
          <p:nvPr/>
        </p:nvSpPr>
        <p:spPr>
          <a:xfrm>
            <a:off x="3569132" y="2651760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3706292" y="2560320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operators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3569132" y="2944368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3706292" y="2852928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&amp; loops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3569132" y="3236976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8"/>
          <p:cNvSpPr/>
          <p:nvPr/>
        </p:nvSpPr>
        <p:spPr>
          <a:xfrm>
            <a:off x="3706292" y="3145536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dicts &amp; packages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6178144" y="1463040"/>
            <a:ext cx="26730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0"/>
          <p:cNvSpPr/>
          <p:nvPr/>
        </p:nvSpPr>
        <p:spPr>
          <a:xfrm>
            <a:off x="6379312" y="1627632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</a:t>
            </a:r>
            <a:endParaRPr lang="en-US" sz="1100"/>
          </a:p>
        </p:txBody>
      </p:sp>
      <p:sp>
        <p:nvSpPr>
          <p:cNvPr id="24" name="Text 21"/>
          <p:cNvSpPr/>
          <p:nvPr/>
        </p:nvSpPr>
        <p:spPr>
          <a:xfrm>
            <a:off x="6379312" y="192024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APIs</a:t>
            </a:r>
            <a:endParaRPr lang="en-US" sz="1500"/>
          </a:p>
        </p:txBody>
      </p:sp>
      <p:sp>
        <p:nvSpPr>
          <p:cNvPr id="25" name="Shape 22"/>
          <p:cNvSpPr/>
          <p:nvPr/>
        </p:nvSpPr>
        <p:spPr>
          <a:xfrm>
            <a:off x="6406744" y="2651760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3"/>
          <p:cNvSpPr/>
          <p:nvPr/>
        </p:nvSpPr>
        <p:spPr>
          <a:xfrm>
            <a:off x="6543904" y="2560320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1200"/>
          </a:p>
        </p:txBody>
      </p:sp>
      <p:sp>
        <p:nvSpPr>
          <p:cNvPr id="27" name="Shape 24"/>
          <p:cNvSpPr/>
          <p:nvPr/>
        </p:nvSpPr>
        <p:spPr>
          <a:xfrm>
            <a:off x="6406744" y="2944368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5"/>
          <p:cNvSpPr/>
          <p:nvPr/>
        </p:nvSpPr>
        <p:spPr>
          <a:xfrm>
            <a:off x="6543904" y="2852928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asteroid data</a:t>
            </a:r>
            <a:endParaRPr lang="en-US" sz="1200"/>
          </a:p>
        </p:txBody>
      </p:sp>
      <p:sp>
        <p:nvSpPr>
          <p:cNvPr id="29" name="Shape 26"/>
          <p:cNvSpPr/>
          <p:nvPr/>
        </p:nvSpPr>
        <p:spPr>
          <a:xfrm>
            <a:off x="6406744" y="3236976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7"/>
          <p:cNvSpPr/>
          <p:nvPr/>
        </p:nvSpPr>
        <p:spPr>
          <a:xfrm>
            <a:off x="6543904" y="3145536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statistics</a:t>
            </a:r>
            <a:endParaRPr lang="en-US" sz="1200"/>
          </a:p>
        </p:txBody>
      </p:sp>
      <p:sp>
        <p:nvSpPr>
          <p:cNvPr id="31" name="Shape 28"/>
          <p:cNvSpPr/>
          <p:nvPr/>
        </p:nvSpPr>
        <p:spPr>
          <a:xfrm>
            <a:off x="9015755" y="1463040"/>
            <a:ext cx="26730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0"/>
          <p:cNvSpPr/>
          <p:nvPr/>
        </p:nvSpPr>
        <p:spPr>
          <a:xfrm>
            <a:off x="9216923" y="192024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Task</a:t>
            </a:r>
            <a:endParaRPr lang="en-US" sz="1500"/>
          </a:p>
        </p:txBody>
      </p:sp>
      <p:sp>
        <p:nvSpPr>
          <p:cNvPr id="34" name="Shape 31"/>
          <p:cNvSpPr/>
          <p:nvPr/>
        </p:nvSpPr>
        <p:spPr>
          <a:xfrm>
            <a:off x="9244355" y="2651760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Text 32"/>
          <p:cNvSpPr/>
          <p:nvPr/>
        </p:nvSpPr>
        <p:spPr>
          <a:xfrm>
            <a:off x="9381515" y="2560320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 air quality API</a:t>
            </a:r>
            <a:endParaRPr lang="en-US" sz="1200"/>
          </a:p>
        </p:txBody>
      </p:sp>
      <p:sp>
        <p:nvSpPr>
          <p:cNvPr id="36" name="Shape 33"/>
          <p:cNvSpPr/>
          <p:nvPr/>
        </p:nvSpPr>
        <p:spPr>
          <a:xfrm>
            <a:off x="9244355" y="2944368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Text 34"/>
          <p:cNvSpPr/>
          <p:nvPr/>
        </p:nvSpPr>
        <p:spPr>
          <a:xfrm>
            <a:off x="9381515" y="2852928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/>
          </a:p>
        </p:txBody>
      </p:sp>
      <p:sp>
        <p:nvSpPr>
          <p:cNvPr id="38" name="Shape 35"/>
          <p:cNvSpPr/>
          <p:nvPr/>
        </p:nvSpPr>
        <p:spPr>
          <a:xfrm>
            <a:off x="9244355" y="3236976"/>
            <a:ext cx="64008" cy="64008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Text 36"/>
          <p:cNvSpPr/>
          <p:nvPr/>
        </p:nvSpPr>
        <p:spPr>
          <a:xfrm>
            <a:off x="9381515" y="3145536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analysis</a:t>
            </a:r>
            <a:endParaRPr lang="en-US" sz="1200"/>
          </a:p>
        </p:txBody>
      </p:sp>
      <p:sp>
        <p:nvSpPr>
          <p:cNvPr id="32" name="Text 29"/>
          <p:cNvSpPr/>
          <p:nvPr/>
        </p:nvSpPr>
        <p:spPr>
          <a:xfrm>
            <a:off x="9216923" y="1627632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4</a:t>
            </a:r>
            <a:endParaRPr lang="en-US" sz="1100"/>
          </a:p>
        </p:txBody>
      </p:sp>
      <p:sp>
        <p:nvSpPr>
          <p:cNvPr id="40" name="Shape 37"/>
          <p:cNvSpPr/>
          <p:nvPr/>
        </p:nvSpPr>
        <p:spPr>
          <a:xfrm>
            <a:off x="502920" y="3794760"/>
            <a:ext cx="11185855" cy="86868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Shape 38"/>
          <p:cNvSpPr/>
          <p:nvPr/>
        </p:nvSpPr>
        <p:spPr>
          <a:xfrm>
            <a:off x="502920" y="3794760"/>
            <a:ext cx="45720" cy="86868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Text 39"/>
          <p:cNvSpPr/>
          <p:nvPr/>
        </p:nvSpPr>
        <p:spPr>
          <a:xfrm>
            <a:off x="731520" y="38862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notebooks: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cover why coding matters, how Python actually works, and what packages are — so everything that follows makes more sense.</a:t>
            </a: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3" grpId="0" animBg="1"/>
      <p:bldP spid="35" grpId="0" animBg="1"/>
      <p:bldP spid="37" grpId="0" animBg="1"/>
      <p:bldP spid="39" grpId="0" animBg="1"/>
      <p:bldP spid="32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to Code — If AI Can Do It?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72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job, AI will help you produce more — but your role becomes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overseer and reviewer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548640" y="235000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oversee something you don't understand —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make mistakes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especially in code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312724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typical programming obstacles yourself builds the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spot and fix AI errors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language — and Python really is a language — is fastest when you actually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6400800" y="1463040"/>
            <a:ext cx="5303520" cy="178308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6400800" y="1463040"/>
            <a:ext cx="45720" cy="178308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629400" y="15544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conversation partner when learning Python is the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responds to every line you write, immediately. No tandem partner is more patient or available.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6400800" y="3383280"/>
            <a:ext cx="5303520" cy="196596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3"/>
          <p:cNvSpPr/>
          <p:nvPr/>
        </p:nvSpPr>
        <p:spPr>
          <a:xfrm>
            <a:off x="6400800" y="3383280"/>
            <a:ext cx="45720" cy="196596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6629400" y="34747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today is not to make you a software engineer. It's to give you enough hands-on experience that you can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understand, and guide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— whether written by you or an AI.</a:t>
            </a: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4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Works: The Interpreter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72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681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only speak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ones and zeros. Python is a human-readable language.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176272"/>
            <a:ext cx="681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 calls it a kernel in Jupyter) sits in between and translates your code into binary instructions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2999232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2889504"/>
            <a:ext cx="681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strict rules. If it encounters something it doesn't recognise,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fails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your code won't run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3712464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602736"/>
            <a:ext cx="681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bug — exact rules produce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repeatable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behaviour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7955280" y="1463040"/>
            <a:ext cx="3749040" cy="219456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7955280" y="1463040"/>
            <a:ext cx="45720" cy="219456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8183880" y="15544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Jupyter, when you press </a:t>
            </a:r>
            <a:r>
              <a:rPr lang="en-US" sz="13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Shift+Enter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your code cell is sent to the interpreter. The interpreter runs it and returns the result, which appears below the cell. That back-and-forth is called the </a:t>
            </a:r>
            <a:r>
              <a:rPr lang="en-US" sz="13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2377954" y="4598370"/>
            <a:ext cx="1417320" cy="100584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2377954" y="459837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3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3795274" y="459837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18" name="Shape 15"/>
          <p:cNvSpPr/>
          <p:nvPr/>
        </p:nvSpPr>
        <p:spPr>
          <a:xfrm>
            <a:off x="4252474" y="4598370"/>
            <a:ext cx="1417320" cy="100584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4252474" y="459837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3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(kernel)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5669794" y="459837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21" name="Shape 18"/>
          <p:cNvSpPr/>
          <p:nvPr/>
        </p:nvSpPr>
        <p:spPr>
          <a:xfrm>
            <a:off x="6126994" y="4598370"/>
            <a:ext cx="1417320" cy="100584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9"/>
          <p:cNvSpPr/>
          <p:nvPr/>
        </p:nvSpPr>
        <p:spPr>
          <a:xfrm>
            <a:off x="6126994" y="459837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3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7544314" y="459837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24" name="Shape 21"/>
          <p:cNvSpPr/>
          <p:nvPr/>
        </p:nvSpPr>
        <p:spPr>
          <a:xfrm>
            <a:off x="8001514" y="4598370"/>
            <a:ext cx="1417320" cy="100584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2"/>
          <p:cNvSpPr/>
          <p:nvPr/>
        </p:nvSpPr>
        <p:spPr>
          <a:xfrm>
            <a:off x="8001514" y="459837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</a:t>
            </a:r>
            <a:endParaRPr lang="en-US" sz="13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4" grpId="0" animBg="1"/>
      <p:bldP spid="17" grpId="0" animBg="1"/>
      <p:bldP spid="20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Not Smart</a:t>
            </a:r>
            <a:endParaRPr lang="en-US" sz="3000"/>
          </a:p>
        </p:txBody>
      </p:sp>
      <p:sp>
        <p:nvSpPr>
          <p:cNvPr id="4" name="Text 1"/>
          <p:cNvSpPr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extremely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extremely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missing character and everything stops. This is not a reflection of your intelligence — it is simply how the system works.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50292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THIS WORKS</a:t>
            </a:r>
            <a:endParaRPr lang="en-US" sz="1200"/>
          </a:p>
        </p:txBody>
      </p:sp>
      <p:sp>
        <p:nvSpPr>
          <p:cNvPr id="6" name="Shape 3"/>
          <p:cNvSpPr/>
          <p:nvPr/>
        </p:nvSpPr>
        <p:spPr>
          <a:xfrm>
            <a:off x="502920" y="3200400"/>
            <a:ext cx="5120640" cy="114300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3364992"/>
            <a:ext cx="45720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Hello, World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502920" y="4526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ONE MISSING QUOTE → ERROR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502920" y="4846320"/>
            <a:ext cx="5120640" cy="132588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777240" y="5010912"/>
            <a:ext cx="4572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unterminated string literal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6675120" y="1463040"/>
            <a:ext cx="5029200" cy="137160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6675120" y="1463040"/>
            <a:ext cx="45720" cy="137160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6903720" y="1554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missing character causes the entire program to stop. Everything after the error may not run at all.</a:t>
            </a:r>
            <a:endParaRPr lang="en-US" sz="1350"/>
          </a:p>
        </p:txBody>
      </p:sp>
      <p:sp>
        <p:nvSpPr>
          <p:cNvPr id="14" name="Shape 11"/>
          <p:cNvSpPr/>
          <p:nvPr/>
        </p:nvSpPr>
        <p:spPr>
          <a:xfrm>
            <a:off x="6675120" y="3017520"/>
            <a:ext cx="5029200" cy="219456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6675120" y="3017520"/>
            <a:ext cx="45720" cy="219456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903720" y="31089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error messages are descriptive. They tell you </a:t>
            </a:r>
            <a:r>
              <a:rPr lang="en-US" sz="1400" i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line broke and why. Learning to read error messages is one of the most valuable skills you will develop today.</a:t>
            </a: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 What are Packages?</a:t>
            </a:r>
            <a:endParaRPr lang="en-US" sz="300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502920" y="188823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5257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language designed to be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and beginner-friendly</a:t>
            </a:r>
            <a:endParaRPr lang="en-US" sz="1350"/>
          </a:p>
        </p:txBody>
      </p:sp>
      <p:sp>
        <p:nvSpPr>
          <p:cNvPr id="7" name="Shape 4"/>
          <p:cNvSpPr/>
          <p:nvPr/>
        </p:nvSpPr>
        <p:spPr>
          <a:xfrm>
            <a:off x="502920" y="252831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language for data science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used by Google, NASA, researchers worldwide</a:t>
            </a:r>
            <a:endParaRPr lang="en-US" sz="1350"/>
          </a:p>
        </p:txBody>
      </p:sp>
      <p:sp>
        <p:nvSpPr>
          <p:cNvPr id="9" name="Shape 6"/>
          <p:cNvSpPr/>
          <p:nvPr/>
        </p:nvSpPr>
        <p:spPr>
          <a:xfrm>
            <a:off x="502920" y="31683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731520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by design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basic types, control flow, functions — that's it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502920" y="421995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731520" y="411480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of pre-written code — loaded with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350"/>
          </a:p>
        </p:txBody>
      </p:sp>
      <p:sp>
        <p:nvSpPr>
          <p:cNvPr id="14" name="Shape 11"/>
          <p:cNvSpPr/>
          <p:nvPr/>
        </p:nvSpPr>
        <p:spPr>
          <a:xfrm>
            <a:off x="502920" y="486003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731520" y="474284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write a data table from scratch — just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</a:t>
            </a:r>
            <a:endParaRPr lang="en-US" sz="1350"/>
          </a:p>
        </p:txBody>
      </p:sp>
      <p:sp>
        <p:nvSpPr>
          <p:cNvPr id="16" name="Shape 13"/>
          <p:cNvSpPr/>
          <p:nvPr/>
        </p:nvSpPr>
        <p:spPr>
          <a:xfrm>
            <a:off x="502920" y="550011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731520" y="53949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packages at </a:t>
            </a:r>
            <a:r>
              <a:rPr lang="en-US" sz="1350" b="1" err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pypi.org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 500 000 available</a:t>
            </a:r>
            <a:endParaRPr lang="en-US" sz="1350"/>
          </a:p>
        </p:txBody>
      </p:sp>
      <p:sp>
        <p:nvSpPr>
          <p:cNvPr id="18" name="Shape 15"/>
          <p:cNvSpPr/>
          <p:nvPr/>
        </p:nvSpPr>
        <p:spPr>
          <a:xfrm>
            <a:off x="6400800" y="1417320"/>
            <a:ext cx="5349240" cy="420624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6675120" y="1581912"/>
            <a:ext cx="480060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 language handles basics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&gt;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Packages extend it infinitely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  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tables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 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web APIs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charts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  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numbers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via </a:t>
            </a:r>
            <a:r>
              <a:rPr lang="en-US" sz="1300" err="1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Miniconda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300" err="1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pandas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6400800" y="5760720"/>
            <a:ext cx="5349240" cy="77724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8"/>
          <p:cNvSpPr/>
          <p:nvPr/>
        </p:nvSpPr>
        <p:spPr>
          <a:xfrm>
            <a:off x="6400800" y="5760720"/>
            <a:ext cx="45720" cy="77724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9"/>
          <p:cNvSpPr/>
          <p:nvPr/>
        </p:nvSpPr>
        <p:spPr>
          <a:xfrm>
            <a:off x="6629400" y="58521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use: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681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isolated Python installation — packages installed inside it don't affect anything else on your machine</a:t>
            </a:r>
            <a:endParaRPr lang="en-US" sz="1350"/>
          </a:p>
        </p:txBody>
      </p:sp>
      <p:sp>
        <p:nvSpPr>
          <p:cNvPr id="6" name="Shape 3"/>
          <p:cNvSpPr/>
          <p:nvPr/>
        </p:nvSpPr>
        <p:spPr>
          <a:xfrm>
            <a:off x="548640" y="252831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projects often need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package versions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environments keep them from conflicting</a:t>
            </a:r>
            <a:endParaRPr lang="en-US" sz="1350"/>
          </a:p>
        </p:txBody>
      </p:sp>
      <p:sp>
        <p:nvSpPr>
          <p:cNvPr id="8" name="Shape 5"/>
          <p:cNvSpPr/>
          <p:nvPr/>
        </p:nvSpPr>
        <p:spPr>
          <a:xfrm>
            <a:off x="548640" y="330555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Miniconda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environment is a named folder you activate before working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548640" y="40827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your environment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running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</a:t>
            </a:r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502920" y="5029200"/>
            <a:ext cx="5577840" cy="109728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502920" y="5029200"/>
            <a:ext cx="45720" cy="109728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731520" y="5120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each environment as 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toolbox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for each project. Nothing spills between them.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MINICONDA (CONDA)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6400800" y="1783080"/>
            <a:ext cx="5349240" cy="438912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6675120" y="1947672"/>
            <a:ext cx="48006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environment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myenv python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Activate it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myenv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packages into it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pandas requests matplotlib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Jupyter inside it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Deactivate when done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deactivate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Environment</a:t>
            </a:r>
            <a:endParaRPr lang="en-US" sz="300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MINICONDA (LOCAL)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502920" y="182880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96012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</a:t>
            </a:r>
            <a:r>
              <a:rPr lang="en-US" sz="1400" b="1" err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Miniconda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your OS at </a:t>
            </a:r>
            <a:r>
              <a:rPr lang="en-US" sz="1400" b="1" err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docs.conda.io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Latest installers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5029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960120" y="2697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 — keep default settings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502920" y="320040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50292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960120" y="3200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Prompt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run: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960120" y="3703320"/>
            <a:ext cx="4114800" cy="31089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996696" y="3703320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err="1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r>
              <a:rPr lang="en-US" sz="1200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</a:t>
            </a:r>
            <a:r>
              <a:rPr lang="en-US" sz="1200" err="1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jupyterlab</a:t>
            </a:r>
            <a:r>
              <a:rPr lang="en-US" sz="1200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requests matplotlib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502920" y="416052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5029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960120" y="4160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JupyterLab:</a:t>
            </a:r>
            <a:endParaRPr lang="en-US" sz="1400"/>
          </a:p>
        </p:txBody>
      </p:sp>
      <p:sp>
        <p:nvSpPr>
          <p:cNvPr id="19" name="Shape 16"/>
          <p:cNvSpPr/>
          <p:nvPr/>
        </p:nvSpPr>
        <p:spPr>
          <a:xfrm>
            <a:off x="960120" y="4663440"/>
            <a:ext cx="1280160" cy="31089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/>
          <p:nvPr/>
        </p:nvSpPr>
        <p:spPr>
          <a:xfrm>
            <a:off x="996696" y="466344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CLOUD (IF MINICONDA ISN'T WORKING)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6400800" y="197967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0"/>
          <p:cNvSpPr/>
          <p:nvPr/>
        </p:nvSpPr>
        <p:spPr>
          <a:xfrm>
            <a:off x="6629400" y="1874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in Binder"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badge in the README</a:t>
            </a:r>
            <a:endParaRPr lang="en-US" sz="1350"/>
          </a:p>
        </p:txBody>
      </p:sp>
      <p:sp>
        <p:nvSpPr>
          <p:cNvPr id="24" name="Shape 21"/>
          <p:cNvSpPr/>
          <p:nvPr/>
        </p:nvSpPr>
        <p:spPr>
          <a:xfrm>
            <a:off x="6400800" y="252831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2"/>
          <p:cNvSpPr/>
          <p:nvPr/>
        </p:nvSpPr>
        <p:spPr>
          <a:xfrm>
            <a:off x="662940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~2 minutes — do not refresh the page</a:t>
            </a:r>
            <a:endParaRPr lang="en-US" sz="1350"/>
          </a:p>
        </p:txBody>
      </p:sp>
      <p:sp>
        <p:nvSpPr>
          <p:cNvPr id="26" name="Shape 23"/>
          <p:cNvSpPr/>
          <p:nvPr/>
        </p:nvSpPr>
        <p:spPr>
          <a:xfrm>
            <a:off x="6400800" y="307695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4"/>
          <p:cNvSpPr/>
          <p:nvPr/>
        </p:nvSpPr>
        <p:spPr>
          <a:xfrm>
            <a:off x="662940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in the browser, nothing to install</a:t>
            </a:r>
            <a:endParaRPr lang="en-US" sz="1350"/>
          </a:p>
        </p:txBody>
      </p:sp>
      <p:sp>
        <p:nvSpPr>
          <p:cNvPr id="28" name="Shape 25"/>
          <p:cNvSpPr/>
          <p:nvPr/>
        </p:nvSpPr>
        <p:spPr>
          <a:xfrm>
            <a:off x="6400800" y="36255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6"/>
          <p:cNvSpPr/>
          <p:nvPr/>
        </p:nvSpPr>
        <p:spPr>
          <a:xfrm>
            <a:off x="6629400" y="3520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is lost when you close the tab — download notebooks to save</a:t>
            </a:r>
            <a:endParaRPr lang="en-US" sz="1350"/>
          </a:p>
        </p:txBody>
      </p:sp>
      <p:sp>
        <p:nvSpPr>
          <p:cNvPr id="30" name="Shape 27"/>
          <p:cNvSpPr/>
          <p:nvPr/>
        </p:nvSpPr>
        <p:spPr>
          <a:xfrm>
            <a:off x="6400800" y="4251960"/>
            <a:ext cx="5349240" cy="77724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8"/>
          <p:cNvSpPr/>
          <p:nvPr/>
        </p:nvSpPr>
        <p:spPr>
          <a:xfrm>
            <a:off x="6400800" y="4251960"/>
            <a:ext cx="45720" cy="77724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29"/>
          <p:cNvSpPr/>
          <p:nvPr/>
        </p:nvSpPr>
        <p:spPr>
          <a:xfrm>
            <a:off x="6629400" y="43434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SetupEnvironment.ipynb</a:t>
            </a:r>
            <a:r>
              <a:rPr lang="en-US" sz="13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detailed step-by-step instructions for both options.</a:t>
            </a: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F1BDB-4F1A-429E-A3E8-7F20FEEE03C3}"/>
              </a:ext>
            </a:extLst>
          </p:cNvPr>
          <p:cNvSpPr txBox="1"/>
          <p:nvPr/>
        </p:nvSpPr>
        <p:spPr>
          <a:xfrm>
            <a:off x="1105450" y="864252"/>
            <a:ext cx="853232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>
                <a:ea typeface="Calibri"/>
                <a:cs typeface="Calibri"/>
              </a:rPr>
              <a:t>MINICONDA SETUP (30 Mins) + attendance</a:t>
            </a:r>
          </a:p>
          <a:p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51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3630168"/>
            <a:ext cx="12191695" cy="4572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500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interactive coding workbench — mix live Python code, results, and formatted documentation in a single document.</a:t>
            </a:r>
            <a:endParaRPr lang="en-US" sz="1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Cells, Markdown &amp; Keyboard Shortcuts</a:t>
            </a:r>
            <a:endParaRPr lang="en-US" sz="300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CELL TYPES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548640" y="193852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Python sent to the kernel on Shift+Enter; output appears below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Formatted text, tables, images; not executed by the kernel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02920" y="3520440"/>
            <a:ext cx="5212080" cy="128016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502920" y="3520440"/>
            <a:ext cx="45720" cy="128016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cell is marked by 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bar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left. Click left of the cell — not the bar — to select without entering edit mode.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64008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6400800" y="1828800"/>
            <a:ext cx="1554480" cy="384048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400800" y="1828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Shift+Enter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092440" y="1828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cell &amp; move to next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6400800" y="2377440"/>
            <a:ext cx="1554480" cy="384048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6400800" y="2377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809244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cell above</a:t>
            </a:r>
            <a:endParaRPr lang="en-US" sz="1400"/>
          </a:p>
        </p:txBody>
      </p:sp>
      <p:sp>
        <p:nvSpPr>
          <p:cNvPr id="19" name="Shape 16"/>
          <p:cNvSpPr/>
          <p:nvPr/>
        </p:nvSpPr>
        <p:spPr>
          <a:xfrm>
            <a:off x="6400800" y="2926080"/>
            <a:ext cx="1554480" cy="384048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/>
          <p:nvPr/>
        </p:nvSpPr>
        <p:spPr>
          <a:xfrm>
            <a:off x="6400800" y="2926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8092440" y="2926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cell below</a:t>
            </a:r>
            <a:endParaRPr lang="en-US" sz="1400"/>
          </a:p>
        </p:txBody>
      </p:sp>
      <p:sp>
        <p:nvSpPr>
          <p:cNvPr id="22" name="Shape 19"/>
          <p:cNvSpPr/>
          <p:nvPr/>
        </p:nvSpPr>
        <p:spPr>
          <a:xfrm>
            <a:off x="6400800" y="3474720"/>
            <a:ext cx="1554480" cy="384048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0"/>
          <p:cNvSpPr/>
          <p:nvPr/>
        </p:nvSpPr>
        <p:spPr>
          <a:xfrm>
            <a:off x="6400800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endParaRPr lang="en-US" sz="1300"/>
          </a:p>
        </p:txBody>
      </p:sp>
      <p:sp>
        <p:nvSpPr>
          <p:cNvPr id="24" name="Text 21"/>
          <p:cNvSpPr/>
          <p:nvPr/>
        </p:nvSpPr>
        <p:spPr>
          <a:xfrm>
            <a:off x="8092440" y="3474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active cell</a:t>
            </a:r>
            <a:endParaRPr lang="en-US" sz="1400"/>
          </a:p>
        </p:txBody>
      </p:sp>
      <p:sp>
        <p:nvSpPr>
          <p:cNvPr id="25" name="Shape 22"/>
          <p:cNvSpPr/>
          <p:nvPr/>
        </p:nvSpPr>
        <p:spPr>
          <a:xfrm>
            <a:off x="6400800" y="4023360"/>
            <a:ext cx="1554480" cy="384048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3"/>
          <p:cNvSpPr/>
          <p:nvPr/>
        </p:nvSpPr>
        <p:spPr>
          <a:xfrm>
            <a:off x="6400800" y="4023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8092440" y="4023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Markdown</a:t>
            </a:r>
            <a:endParaRPr lang="en-US" sz="1400"/>
          </a:p>
        </p:txBody>
      </p:sp>
      <p:sp>
        <p:nvSpPr>
          <p:cNvPr id="28" name="Shape 25"/>
          <p:cNvSpPr/>
          <p:nvPr/>
        </p:nvSpPr>
        <p:spPr>
          <a:xfrm>
            <a:off x="6400800" y="4572000"/>
            <a:ext cx="1554480" cy="384048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6"/>
          <p:cNvSpPr/>
          <p:nvPr/>
        </p:nvSpPr>
        <p:spPr>
          <a:xfrm>
            <a:off x="640080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300"/>
          </a:p>
        </p:txBody>
      </p:sp>
      <p:sp>
        <p:nvSpPr>
          <p:cNvPr id="30" name="Text 27"/>
          <p:cNvSpPr/>
          <p:nvPr/>
        </p:nvSpPr>
        <p:spPr>
          <a:xfrm>
            <a:off x="8092440" y="4572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Code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768A8-C574-403A-EF85-B98F094FEB12}"/>
              </a:ext>
            </a:extLst>
          </p:cNvPr>
          <p:cNvSpPr txBox="1"/>
          <p:nvPr/>
        </p:nvSpPr>
        <p:spPr>
          <a:xfrm>
            <a:off x="468086" y="566057"/>
            <a:ext cx="109401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1st Notebook + Download of </a:t>
            </a:r>
            <a:r>
              <a:rPr lang="en-GB" err="1">
                <a:ea typeface="Calibri"/>
                <a:cs typeface="Calibri"/>
              </a:rPr>
              <a:t>Github</a:t>
            </a:r>
            <a:r>
              <a:rPr lang="en-GB">
                <a:ea typeface="Calibri"/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67496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3630168"/>
            <a:ext cx="12191695" cy="4572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500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operators, control flow, loops, data structures, and packages — the core toolkit of every Python program.</a:t>
            </a:r>
            <a:endParaRPr lang="en-US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 Program?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72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 a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sequence of instructions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like a recipe with no gaps allowed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176272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cannot infer missing steps —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must be explicit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2999232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288950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first: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 the logic in plain English before translating to Python syntax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3712464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60273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separates problem-solving from syntax — making both much easier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502920" y="4453128"/>
            <a:ext cx="1188720" cy="292608"/>
          </a:xfrm>
          <a:prstGeom prst="rect">
            <a:avLst/>
          </a:prstGeom>
          <a:solidFill>
            <a:srgbClr val="D256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502920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502920" y="486460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0A0F0E"/>
                </a:solidFill>
                <a:latin typeface="Calibri"/>
                <a:ea typeface="Calibri"/>
                <a:cs typeface="Calibri"/>
              </a:rPr>
              <a:t>Write pseudocode for </a:t>
            </a:r>
            <a:r>
              <a:rPr lang="en-US" sz="1400" b="1" dirty="0">
                <a:solidFill>
                  <a:srgbClr val="0A0F0E"/>
                </a:solidFill>
                <a:latin typeface="Calibri"/>
                <a:ea typeface="Calibri"/>
                <a:cs typeface="Calibri"/>
              </a:rPr>
              <a:t>"Withdraw cash from an ATM"</a:t>
            </a:r>
            <a:r>
              <a:rPr lang="en-US" sz="1400" dirty="0">
                <a:solidFill>
                  <a:srgbClr val="0A0F0E"/>
                </a:solidFill>
                <a:latin typeface="Calibri"/>
                <a:ea typeface="Calibri"/>
                <a:cs typeface="Calibri"/>
              </a:rPr>
              <a:t> — every step, as if you were instructing a robot that can't infer anything.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PSEUDOCODE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7315200" y="1783080"/>
            <a:ext cx="4434840" cy="274320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7589520" y="1947672"/>
            <a:ext cx="38862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BEGIN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1. Walk to the counter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2. Pick up a plate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3. Take two slices of bread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4. Add filling of choice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5. Place second slice on top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END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Operators</a:t>
            </a:r>
            <a:endParaRPr lang="en-US" sz="300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486400" cy="2880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A0F0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value 5 under name x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A0F0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 = "Alice"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must be in quotes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A0F0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 = (x+y)/2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− * / **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A0F0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&lt; b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True or False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A0F0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== b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equality (not assign!)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A0F0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 + " " + s2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strings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2920" y="5029200"/>
            <a:ext cx="5486400" cy="109728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2"/>
          <p:cNvSpPr/>
          <p:nvPr/>
        </p:nvSpPr>
        <p:spPr>
          <a:xfrm>
            <a:off x="502920" y="5029200"/>
            <a:ext cx="45720" cy="109728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3"/>
          <p:cNvSpPr/>
          <p:nvPr/>
        </p:nvSpPr>
        <p:spPr>
          <a:xfrm>
            <a:off x="73152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assigns. </a:t>
            </a:r>
            <a:r>
              <a:rPr lang="en-US" sz="1400" b="1">
                <a:solidFill>
                  <a:srgbClr val="0A0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compares.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them is the most common beginner mistake.</a:t>
            </a:r>
            <a:endParaRPr lang="en-US" sz="1350"/>
          </a:p>
        </p:txBody>
      </p:sp>
      <p:sp>
        <p:nvSpPr>
          <p:cNvPr id="8" name="Shape 4"/>
          <p:cNvSpPr/>
          <p:nvPr/>
        </p:nvSpPr>
        <p:spPr>
          <a:xfrm>
            <a:off x="6400800" y="1463040"/>
            <a:ext cx="5349240" cy="493776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5"/>
          <p:cNvSpPr/>
          <p:nvPr/>
        </p:nvSpPr>
        <p:spPr>
          <a:xfrm>
            <a:off x="6675120" y="1627632"/>
            <a:ext cx="480060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"Intro to Python"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Arithmetic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"Mean:"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mean)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Comparison → True / False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10.8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 concatenation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World"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    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 World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</a:t>
            </a:r>
            <a:r>
              <a:rPr lang="en-US" sz="30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30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681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a block only when its condition is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50"/>
          </a:p>
        </p:txBody>
      </p:sp>
      <p:sp>
        <p:nvSpPr>
          <p:cNvPr id="6" name="Shape 3"/>
          <p:cNvSpPr/>
          <p:nvPr/>
        </p:nvSpPr>
        <p:spPr>
          <a:xfrm>
            <a:off x="548640" y="234543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syntax in Python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 spaces define the block; missing indentation is an error</a:t>
            </a:r>
            <a:endParaRPr lang="en-US" sz="1350"/>
          </a:p>
        </p:txBody>
      </p:sp>
      <p:sp>
        <p:nvSpPr>
          <p:cNvPr id="8" name="Shape 5"/>
          <p:cNvSpPr/>
          <p:nvPr/>
        </p:nvSpPr>
        <p:spPr>
          <a:xfrm>
            <a:off x="548640" y="312267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the opposite case</a:t>
            </a:r>
            <a:endParaRPr lang="en-US" sz="1250"/>
          </a:p>
        </p:txBody>
      </p:sp>
      <p:sp>
        <p:nvSpPr>
          <p:cNvPr id="10" name="Shape 7"/>
          <p:cNvSpPr/>
          <p:nvPr/>
        </p:nvSpPr>
        <p:spPr>
          <a:xfrm>
            <a:off x="548640" y="36255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502920" y="4206240"/>
            <a:ext cx="5486400" cy="137160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502920" y="4206240"/>
            <a:ext cx="45720" cy="137160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731520" y="42976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indented block always runs — regardless of the condition. Watch your indentation carefully.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6400800" y="1463040"/>
            <a:ext cx="5349240" cy="493776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675120" y="1627632"/>
            <a:ext cx="480060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 is less than Y"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 is not larger"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with and / or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"Both are small"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 least one is &lt; 10"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4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Loops: </a:t>
            </a:r>
            <a:r>
              <a:rPr lang="en-US" sz="30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3000" b="1">
                <a:solidFill>
                  <a:srgbClr val="009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5486400" cy="146304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627632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— iterate over a collection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="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i)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502920" y="3108960"/>
            <a:ext cx="5486400" cy="182880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3273552"/>
            <a:ext cx="49377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— run until condition fails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 ="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x)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400800" y="1463040"/>
            <a:ext cx="1188720" cy="292608"/>
          </a:xfrm>
          <a:prstGeom prst="rect">
            <a:avLst/>
          </a:prstGeom>
          <a:solidFill>
            <a:srgbClr val="D256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400800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400800" y="18745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that: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6400800" y="243687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662940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from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10</a:t>
            </a:r>
            <a:endParaRPr lang="en-US" sz="1350"/>
          </a:p>
        </p:txBody>
      </p:sp>
      <p:sp>
        <p:nvSpPr>
          <p:cNvPr id="13" name="Shape 10"/>
          <p:cNvSpPr/>
          <p:nvPr/>
        </p:nvSpPr>
        <p:spPr>
          <a:xfrm>
            <a:off x="6400800" y="298551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629400" y="2880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whether each number is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five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6400800" y="353415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629400" y="3429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number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prints "— </a:t>
            </a:r>
            <a:r>
              <a:rPr lang="en-US" sz="1350" i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Phew, half time!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—" instead</a:t>
            </a:r>
            <a:endParaRPr lang="en-US" sz="1350"/>
          </a:p>
        </p:txBody>
      </p:sp>
      <p:sp>
        <p:nvSpPr>
          <p:cNvPr id="17" name="Shape 14"/>
          <p:cNvSpPr/>
          <p:nvPr/>
        </p:nvSpPr>
        <p:spPr>
          <a:xfrm>
            <a:off x="6400800" y="4114800"/>
            <a:ext cx="5349240" cy="109728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400800" y="4114800"/>
            <a:ext cx="45720" cy="109728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6629400" y="42062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 by step — first the loop, then add the conditions. The struggle is where learning happens.</a:t>
            </a: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Lists &amp; Dictionaries</a:t>
            </a:r>
            <a:endParaRPr lang="en-US" sz="300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—  ORDERED, INDEXED FROM 0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5486400" cy="155448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77240" y="1947672"/>
            <a:ext cx="4937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"Apples"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"Bananas" (last)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x.append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"Pears"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502920" y="3520440"/>
            <a:ext cx="5486400" cy="82296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5"/>
          <p:cNvSpPr/>
          <p:nvPr/>
        </p:nvSpPr>
        <p:spPr>
          <a:xfrm>
            <a:off x="502920" y="3520440"/>
            <a:ext cx="45720" cy="82296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starts at 0.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 is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x[0]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x[1]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 —  NAMED FIELDS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6400800" y="1783080"/>
            <a:ext cx="5349240" cy="384048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6675120" y="1947672"/>
            <a:ext cx="480060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"lastname"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"Cave"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"firstname"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"Nick"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"height"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1.92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(person[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"lastname"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Cave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(person[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68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in Practice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72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3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packagename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load any package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548640" y="216712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functions with </a:t>
            </a:r>
            <a:r>
              <a:rPr lang="en-US" sz="13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packagename.function()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265176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package gives random choices, integers, floats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3429000"/>
            <a:ext cx="1188720" cy="292608"/>
          </a:xfrm>
          <a:prstGeom prst="rect">
            <a:avLst/>
          </a:prstGeom>
          <a:solidFill>
            <a:srgbClr val="D256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50292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50292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dataset of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random pets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species, a typical name, and a realistic weight range per species.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6400800" y="1463040"/>
            <a:ext cx="5349240" cy="493776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675120" y="1627632"/>
            <a:ext cx="480060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lastnames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"Hughes"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"Wakeman"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"Young"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genders  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gender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err="1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random.choice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(genders)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  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err="1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err="1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random.uniform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1.55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err="1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p.append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"gender"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gender,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age,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"height"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(height,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1D36F-D11C-4332-9900-A64FFDCDCF51}"/>
              </a:ext>
            </a:extLst>
          </p:cNvPr>
          <p:cNvSpPr txBox="1"/>
          <p:nvPr/>
        </p:nvSpPr>
        <p:spPr>
          <a:xfrm>
            <a:off x="598714" y="489857"/>
            <a:ext cx="7772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2nd Notebook exercises (30 mins?)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377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3630168"/>
            <a:ext cx="12191695" cy="4572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Real-World Data</a:t>
            </a:r>
            <a:endParaRPr lang="en-US" sz="500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data from a web API, reshape it into a DataFrame, and run your first statistical analysis — using NASA's asteroid data.</a:t>
            </a:r>
            <a:endParaRPr lang="en-US"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 from APIs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681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contract between programs — send a URL request, receive structured data back</a:t>
            </a:r>
            <a:endParaRPr lang="en-US" sz="1350"/>
          </a:p>
        </p:txBody>
      </p:sp>
      <p:sp>
        <p:nvSpPr>
          <p:cNvPr id="6" name="Shape 3"/>
          <p:cNvSpPr/>
          <p:nvPr/>
        </p:nvSpPr>
        <p:spPr>
          <a:xfrm>
            <a:off x="548640" y="234543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work like a browser: you send 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URL and receive data in return</a:t>
            </a:r>
            <a:endParaRPr lang="en-US" sz="1350"/>
          </a:p>
        </p:txBody>
      </p:sp>
      <p:sp>
        <p:nvSpPr>
          <p:cNvPr id="8" name="Shape 5"/>
          <p:cNvSpPr/>
          <p:nvPr/>
        </p:nvSpPr>
        <p:spPr>
          <a:xfrm>
            <a:off x="548640" y="312267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in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format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nested Python dictionaries and lists (you already know those)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548640" y="389991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NASA's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NeoWs API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near-Earth asteroid data — free with a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DEMO_KEY</a:t>
            </a:r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502920" y="4754880"/>
            <a:ext cx="5486400" cy="100584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502920" y="4754880"/>
            <a:ext cx="45720" cy="100584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73152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package sends the HTTP call. </a:t>
            </a:r>
            <a:r>
              <a:rPr lang="en-US" sz="120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.json()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parses the response into a Python dict.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6400800" y="1463040"/>
            <a:ext cx="5349240" cy="493776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675120" y="1627632"/>
            <a:ext cx="480060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"2025-10-07"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 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"2025-10-14"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"DEMO_KEY"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"https://api.nasa.gov/neo/rest/v1/feed"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f"?start_date={start}"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f"&amp;end_date={end}"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f"&amp;api_key={key}"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    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requests.get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raw_data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raw_data[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"element_count"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e.g. 27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681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2-D table with named columns — like a spreadsheet you program</a:t>
            </a:r>
            <a:endParaRPr lang="en-US" sz="1350"/>
          </a:p>
        </p:txBody>
      </p:sp>
      <p:sp>
        <p:nvSpPr>
          <p:cNvPr id="6" name="Shape 3"/>
          <p:cNvSpPr/>
          <p:nvPr/>
        </p:nvSpPr>
        <p:spPr>
          <a:xfrm>
            <a:off x="548640" y="228142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17627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json_normalize()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flattens nested JSON into a flat DataFrame automatically</a:t>
            </a:r>
            <a:endParaRPr lang="en-US" sz="1250"/>
          </a:p>
        </p:txBody>
      </p:sp>
      <p:sp>
        <p:nvSpPr>
          <p:cNvPr id="8" name="Shape 5"/>
          <p:cNvSpPr/>
          <p:nvPr/>
        </p:nvSpPr>
        <p:spPr>
          <a:xfrm>
            <a:off x="548640" y="2994660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2889504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returns 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assign it back or use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inplace=True</a:t>
            </a:r>
            <a:endParaRPr lang="en-US" sz="135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548640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IS_HAZARDOUS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VELOCITY_KM_S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MISS_DIST_KM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(2006 KV89)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8.48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68 171 991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(2019 AE3)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41 822 304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(2021 QM1)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73 450 112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0" y="1463040"/>
            <a:ext cx="5349240" cy="493776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8"/>
          <p:cNvSpPr/>
          <p:nvPr/>
        </p:nvSpPr>
        <p:spPr>
          <a:xfrm>
            <a:off x="6675120" y="1627632"/>
            <a:ext cx="480060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pandas.json_normalize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raw_data[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"near_earth_objects"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 rows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column names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df.count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</a:t>
            </a: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 entries per col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columns for clarity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(columns={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"is_potentially_hazardous_asteroid"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"is_hazardous"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"relative_velocity.km_per_s"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"velocity_km_s"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Selecting Data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5486400" cy="457200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627632"/>
            <a:ext cx="493776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rows by condition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df[df.diameter_max_km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conditions (always use brackets)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df[(df.diameter_max_km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(df.velocity_km_s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rows AND columns by label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"2025-10-14"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"velocity_km_s"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a date range (all columns)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"2025-10-07"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"2025-10-14"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:]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6400800" y="15681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6629400" y="1463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on a column returns a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mask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value per row</a:t>
            </a:r>
            <a:endParaRPr lang="en-US" sz="1350"/>
          </a:p>
        </p:txBody>
      </p:sp>
      <p:sp>
        <p:nvSpPr>
          <p:cNvPr id="8" name="Shape 5"/>
          <p:cNvSpPr/>
          <p:nvPr/>
        </p:nvSpPr>
        <p:spPr>
          <a:xfrm>
            <a:off x="6400800" y="234543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629400" y="2240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350" i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350" i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 each condition in brackets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6400800" y="312267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6629400" y="3017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.loc[rows, columns]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selects by label;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"all"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6400800" y="3977640"/>
            <a:ext cx="1188720" cy="292608"/>
          </a:xfrm>
          <a:prstGeom prst="rect">
            <a:avLst/>
          </a:prstGeom>
          <a:solidFill>
            <a:srgbClr val="D256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6400800" y="3977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400800" y="43891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DataFrame showing only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asteroids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name and velocity columns only.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5486400" cy="4937760"/>
          </a:xfrm>
          <a:prstGeom prst="rect">
            <a:avLst/>
          </a:prstGeom>
          <a:solidFill>
            <a:srgbClr val="0E11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627632"/>
            <a:ext cx="493776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summary — all numeric columns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column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velocity_km_s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].mean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velocity_km_s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].median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velocity_km_s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].max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velocity_km_s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6FBA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].quantile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6B7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derived column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danger_score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diameter_max_km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velocity_km_s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(</a:t>
            </a:r>
            <a:r>
              <a:rPr lang="en-US" sz="130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err="1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miss_distance_km</a:t>
            </a:r>
            <a:r>
              <a:rPr lang="en-US" sz="1300">
                <a:solidFill>
                  <a:srgbClr val="7BE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</a:t>
            </a:r>
            <a:r>
              <a:rPr lang="en-US" sz="1300">
                <a:solidFill>
                  <a:srgbClr val="F3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1e6</a:t>
            </a:r>
            <a:endParaRPr lang="en-US" sz="13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6400800" y="1568196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6629400" y="1463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count, mean, std, min, max, quartiles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call</a:t>
            </a:r>
            <a:endParaRPr lang="en-US" sz="1250"/>
          </a:p>
        </p:txBody>
      </p:sp>
      <p:sp>
        <p:nvSpPr>
          <p:cNvPr id="8" name="Shape 5"/>
          <p:cNvSpPr/>
          <p:nvPr/>
        </p:nvSpPr>
        <p:spPr>
          <a:xfrm>
            <a:off x="6400800" y="228142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629400" y="21762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on columns is </a:t>
            </a: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loops needed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6400800" y="2994660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6629400" y="288950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created by simple assignment: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df["new"] = ...</a:t>
            </a:r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6400800" y="3785616"/>
            <a:ext cx="1188720" cy="292608"/>
          </a:xfrm>
          <a:prstGeom prst="rect">
            <a:avLst/>
          </a:prstGeom>
          <a:solidFill>
            <a:srgbClr val="D256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6400800" y="3785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400800" y="4197096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velocity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small asteroids (diameter &lt; 0.05 km) vs. large ones. Which group travels faster?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F1953-0D26-130C-6005-380968497AB0}"/>
              </a:ext>
            </a:extLst>
          </p:cNvPr>
          <p:cNvSpPr txBox="1"/>
          <p:nvPr/>
        </p:nvSpPr>
        <p:spPr>
          <a:xfrm>
            <a:off x="1132114" y="1382485"/>
            <a:ext cx="5856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3rd exercise (30 mins)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121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A0F0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3630168"/>
            <a:ext cx="12191695" cy="4572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4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Task: Air Quality Analysis</a:t>
            </a:r>
            <a:endParaRPr lang="en-US" sz="500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you've learned to a new real-world dataset — global air quality data from the OpenAQ API.</a:t>
            </a:r>
            <a:endParaRPr lang="en-US"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Quality: Dataset &amp; Parameters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72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global air quality measurements, free, live, real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548640" y="221284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free API key: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docs.openaq.org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JSON-to-DataFrame workflow as the NASA notebook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3566160"/>
            <a:ext cx="5486400" cy="128016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502920" y="3566160"/>
            <a:ext cx="45720" cy="128016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731520" y="3657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research question, retrieve data, analyse it, visualise it, and document your findings in a structured notebook.</a:t>
            </a:r>
            <a:endParaRPr lang="en-US" sz="135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349240" cy="3017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SOURCE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/ PM10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Combustion, dust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Lungs, bloodstream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NO₂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 fuels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Asthma trigger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SO₂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rain, respiratory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combustion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 at high levels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O₃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A0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Breathing, lung function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Structure &amp; Grading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502920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960120" y="1463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2+ cities, 2+ parameters, specific time frame, analytical angle</a:t>
            </a:r>
            <a:endParaRPr lang="en-US" sz="1350"/>
          </a:p>
        </p:txBody>
      </p:sp>
      <p:sp>
        <p:nvSpPr>
          <p:cNvPr id="7" name="Shape 4"/>
          <p:cNvSpPr/>
          <p:nvPr/>
        </p:nvSpPr>
        <p:spPr>
          <a:xfrm>
            <a:off x="502920" y="224028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960120" y="2240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OpenAQ API via </a:t>
            </a:r>
            <a:r>
              <a:rPr lang="en-US" sz="1250">
                <a:solidFill>
                  <a:srgbClr val="0A0F0E"/>
                </a:solidFill>
                <a:highlight>
                  <a:srgbClr val="E5E7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502920" y="301752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50292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960120" y="3017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analysis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clean, filter, compute statistics</a:t>
            </a:r>
            <a:endParaRPr lang="en-US" sz="1350"/>
          </a:p>
        </p:txBody>
      </p:sp>
      <p:sp>
        <p:nvSpPr>
          <p:cNvPr id="13" name="Shape 10"/>
          <p:cNvSpPr/>
          <p:nvPr/>
        </p:nvSpPr>
        <p:spPr>
          <a:xfrm>
            <a:off x="502920" y="379476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50292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960120" y="3794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bar chart or line chart with Matplotlib</a:t>
            </a:r>
            <a:endParaRPr lang="en-US" sz="1350"/>
          </a:p>
        </p:txBody>
      </p:sp>
      <p:sp>
        <p:nvSpPr>
          <p:cNvPr id="16" name="Shape 13"/>
          <p:cNvSpPr/>
          <p:nvPr/>
        </p:nvSpPr>
        <p:spPr>
          <a:xfrm>
            <a:off x="502920" y="4572000"/>
            <a:ext cx="310896" cy="3108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50292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96012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r>
              <a:rPr lang="en-US" sz="135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structured notebook with conclusions</a:t>
            </a:r>
            <a:endParaRPr lang="en-US" sz="1350"/>
          </a:p>
        </p:txBody>
      </p:sp>
      <p:sp>
        <p:nvSpPr>
          <p:cNvPr id="19" name="Text 16"/>
          <p:cNvSpPr/>
          <p:nvPr/>
        </p:nvSpPr>
        <p:spPr>
          <a:xfrm>
            <a:off x="64008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CRITERIA</a:t>
            </a:r>
            <a:endParaRPr lang="en-US" sz="1100"/>
          </a:p>
        </p:txBody>
      </p:sp>
      <p:sp>
        <p:nvSpPr>
          <p:cNvPr id="20" name="Shape 17"/>
          <p:cNvSpPr/>
          <p:nvPr/>
        </p:nvSpPr>
        <p:spPr>
          <a:xfrm>
            <a:off x="6400800" y="193852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8"/>
          <p:cNvSpPr/>
          <p:nvPr/>
        </p:nvSpPr>
        <p:spPr>
          <a:xfrm>
            <a:off x="6629400" y="1828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produces a correct data table</a:t>
            </a:r>
            <a:endParaRPr lang="en-US" sz="1400"/>
          </a:p>
        </p:txBody>
      </p:sp>
      <p:sp>
        <p:nvSpPr>
          <p:cNvPr id="22" name="Shape 19"/>
          <p:cNvSpPr/>
          <p:nvPr/>
        </p:nvSpPr>
        <p:spPr>
          <a:xfrm>
            <a:off x="6400800" y="2651760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0"/>
          <p:cNvSpPr/>
          <p:nvPr/>
        </p:nvSpPr>
        <p:spPr>
          <a:xfrm>
            <a:off x="6629400" y="25420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working bar chart + means computed</a:t>
            </a:r>
            <a:endParaRPr lang="en-US" sz="1400"/>
          </a:p>
        </p:txBody>
      </p:sp>
      <p:sp>
        <p:nvSpPr>
          <p:cNvPr id="24" name="Shape 21"/>
          <p:cNvSpPr/>
          <p:nvPr/>
        </p:nvSpPr>
        <p:spPr>
          <a:xfrm>
            <a:off x="6400800" y="3364992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2"/>
          <p:cNvSpPr/>
          <p:nvPr/>
        </p:nvSpPr>
        <p:spPr>
          <a:xfrm>
            <a:off x="6629400" y="325526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Excellent: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 rounded, means appended to table and included in chart</a:t>
            </a:r>
            <a:endParaRPr lang="en-US" sz="1400"/>
          </a:p>
        </p:txBody>
      </p:sp>
      <p:sp>
        <p:nvSpPr>
          <p:cNvPr id="26" name="Shape 23"/>
          <p:cNvSpPr/>
          <p:nvPr/>
        </p:nvSpPr>
        <p:spPr>
          <a:xfrm>
            <a:off x="6400800" y="4151376"/>
            <a:ext cx="5349240" cy="109728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4"/>
          <p:cNvSpPr/>
          <p:nvPr/>
        </p:nvSpPr>
        <p:spPr>
          <a:xfrm>
            <a:off x="6400800" y="4151376"/>
            <a:ext cx="45720" cy="109728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5"/>
          <p:cNvSpPr/>
          <p:nvPr/>
        </p:nvSpPr>
        <p:spPr>
          <a:xfrm>
            <a:off x="6629400" y="424281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PM2.5 and NO₂ levels in Tokyo and Delhi compare during winter months?"</a:t>
            </a:r>
            <a:endParaRPr lang="en-US" sz="13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Built Today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02920" y="1417320"/>
            <a:ext cx="3576218" cy="1508760"/>
          </a:xfrm>
          <a:prstGeom prst="rect">
            <a:avLst/>
          </a:prstGeom>
          <a:solidFill>
            <a:srgbClr val="121819"/>
          </a:solidFill>
          <a:ln w="9525">
            <a:solidFill>
              <a:srgbClr val="262C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31520" y="16002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coding matters, how the interpreter works, and what Python packages are</a:t>
            </a:r>
            <a:endParaRPr lang="en-US" sz="1350"/>
          </a:p>
        </p:txBody>
      </p:sp>
      <p:sp>
        <p:nvSpPr>
          <p:cNvPr id="7" name="Shape 4"/>
          <p:cNvSpPr/>
          <p:nvPr/>
        </p:nvSpPr>
        <p:spPr>
          <a:xfrm>
            <a:off x="4307738" y="1417320"/>
            <a:ext cx="3576218" cy="1508760"/>
          </a:xfrm>
          <a:prstGeom prst="rect">
            <a:avLst/>
          </a:prstGeom>
          <a:solidFill>
            <a:srgbClr val="121819"/>
          </a:solidFill>
          <a:ln w="9525">
            <a:solidFill>
              <a:srgbClr val="262C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4536338" y="16002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536338" y="196596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notebooks, cells, the kernel, and Markdown formatting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8112557" y="1417320"/>
            <a:ext cx="3576218" cy="1508760"/>
          </a:xfrm>
          <a:prstGeom prst="rect">
            <a:avLst/>
          </a:prstGeom>
          <a:solidFill>
            <a:srgbClr val="121819"/>
          </a:solidFill>
          <a:ln w="9525">
            <a:solidFill>
              <a:srgbClr val="262C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8341157" y="16002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8341157" y="196596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operators, if/else, loops, lists, dictionaries, packages</a:t>
            </a:r>
            <a:endParaRPr lang="en-US" sz="1350"/>
          </a:p>
        </p:txBody>
      </p:sp>
      <p:sp>
        <p:nvSpPr>
          <p:cNvPr id="13" name="Shape 10"/>
          <p:cNvSpPr/>
          <p:nvPr/>
        </p:nvSpPr>
        <p:spPr>
          <a:xfrm>
            <a:off x="502920" y="3154680"/>
            <a:ext cx="3576218" cy="1508760"/>
          </a:xfrm>
          <a:prstGeom prst="rect">
            <a:avLst/>
          </a:prstGeom>
          <a:solidFill>
            <a:srgbClr val="121819"/>
          </a:solidFill>
          <a:ln w="9525">
            <a:solidFill>
              <a:srgbClr val="262C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731520" y="333756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731520" y="370332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GET requests and parsing JSON with the requests package</a:t>
            </a:r>
            <a:endParaRPr lang="en-US" sz="1350"/>
          </a:p>
        </p:txBody>
      </p:sp>
      <p:sp>
        <p:nvSpPr>
          <p:cNvPr id="16" name="Shape 13"/>
          <p:cNvSpPr/>
          <p:nvPr/>
        </p:nvSpPr>
        <p:spPr>
          <a:xfrm>
            <a:off x="4307738" y="3154680"/>
            <a:ext cx="3576218" cy="1508760"/>
          </a:xfrm>
          <a:prstGeom prst="rect">
            <a:avLst/>
          </a:prstGeom>
          <a:solidFill>
            <a:srgbClr val="121819"/>
          </a:solidFill>
          <a:ln w="9525">
            <a:solidFill>
              <a:srgbClr val="262C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4536338" y="333756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4536338" y="370332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filtering, and computing statistics on DataFrames</a:t>
            </a:r>
            <a:endParaRPr lang="en-US" sz="1350"/>
          </a:p>
        </p:txBody>
      </p:sp>
      <p:sp>
        <p:nvSpPr>
          <p:cNvPr id="19" name="Shape 16"/>
          <p:cNvSpPr/>
          <p:nvPr/>
        </p:nvSpPr>
        <p:spPr>
          <a:xfrm>
            <a:off x="8112557" y="3154680"/>
            <a:ext cx="3576218" cy="1508760"/>
          </a:xfrm>
          <a:prstGeom prst="rect">
            <a:avLst/>
          </a:prstGeom>
          <a:solidFill>
            <a:srgbClr val="121819"/>
          </a:solidFill>
          <a:ln w="9525">
            <a:solidFill>
              <a:srgbClr val="262C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/>
          <p:nvPr/>
        </p:nvSpPr>
        <p:spPr>
          <a:xfrm>
            <a:off x="8341157" y="333756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7B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TRANSFER TASK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8341157" y="370332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>
                <a:solidFill>
                  <a:srgbClr val="B8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all independently — air quality research with OpenAQ</a:t>
            </a:r>
            <a:endParaRPr lang="en-US" sz="13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292608"/>
            <a:ext cx="114300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548640" y="157276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7240" y="146304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notebooks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as reference while working on the transfer task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548640" y="235000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in Notebook 4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API navigation is unclear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312724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messages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Python tells you exactly what went wrong and where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0091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pandas.pydata.org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python-graph-gallery.com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6400800" y="1463040"/>
            <a:ext cx="5349240" cy="146304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6400800" y="1463040"/>
            <a:ext cx="45720" cy="146304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629400" y="15544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iteratively: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get the task working for one city. Only then introduce a loop for multiple cities.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6400800" y="3108960"/>
            <a:ext cx="5349240" cy="1691640"/>
          </a:xfrm>
          <a:prstGeom prst="rect">
            <a:avLst/>
          </a:prstGeom>
          <a:solidFill>
            <a:srgbClr val="D7F4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3"/>
          <p:cNvSpPr/>
          <p:nvPr/>
        </p:nvSpPr>
        <p:spPr>
          <a:xfrm>
            <a:off x="6400800" y="3108960"/>
            <a:ext cx="45720" cy="1691640"/>
          </a:xfrm>
          <a:prstGeom prst="rect">
            <a:avLst/>
          </a:prstGeom>
          <a:solidFill>
            <a:srgbClr val="0F7A3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6629400" y="320040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</a:t>
            </a:r>
            <a:r>
              <a:rPr lang="en-US" sz="1400">
                <a:solidFill>
                  <a:srgbClr val="0A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values, break things on purpose, see what happens. That curiosity is what turns a beginner into a programmer.</a:t>
            </a:r>
            <a:endParaRPr lang="en-US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6E8F46E44E5B4E8611BB0165D562BD" ma:contentTypeVersion="21" ma:contentTypeDescription="Create a new document." ma:contentTypeScope="" ma:versionID="063b0c945754ac8adea7a8f8556f0a47">
  <xsd:schema xmlns:xsd="http://www.w3.org/2001/XMLSchema" xmlns:xs="http://www.w3.org/2001/XMLSchema" xmlns:p="http://schemas.microsoft.com/office/2006/metadata/properties" xmlns:ns2="9a97c3fd-294e-4dde-8fbb-1ad43d0f2457" xmlns:ns3="55434470-2595-4bab-b7fc-5caad97e1323" targetNamespace="http://schemas.microsoft.com/office/2006/metadata/properties" ma:root="true" ma:fieldsID="96a5fd86ae9f3f2bc8491cddbe770923" ns2:_="" ns3:_="">
    <xsd:import namespace="9a97c3fd-294e-4dde-8fbb-1ad43d0f2457"/>
    <xsd:import namespace="55434470-2595-4bab-b7fc-5caad97e13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97c3fd-294e-4dde-8fbb-1ad43d0f24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42469c21-49bf-40d2-9ab1-500f7b99a344}" ma:internalName="TaxCatchAll" ma:showField="CatchAllData" ma:web="9a97c3fd-294e-4dde-8fbb-1ad43d0f24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434470-2595-4bab-b7fc-5caad97e13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1bb21ad-ed69-434a-bbad-9bf5f8ce6e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434470-2595-4bab-b7fc-5caad97e1323">
      <Terms xmlns="http://schemas.microsoft.com/office/infopath/2007/PartnerControls"/>
    </lcf76f155ced4ddcb4097134ff3c332f>
    <TaxCatchAll xmlns="9a97c3fd-294e-4dde-8fbb-1ad43d0f2457" xsi:nil="true"/>
  </documentManagement>
</p:properties>
</file>

<file path=customXml/itemProps1.xml><?xml version="1.0" encoding="utf-8"?>
<ds:datastoreItem xmlns:ds="http://schemas.openxmlformats.org/officeDocument/2006/customXml" ds:itemID="{7D265B0D-CF32-4EF0-8231-2D60E4F9C7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8668E9-B066-4470-BD34-27E510812470}">
  <ds:schemaRefs>
    <ds:schemaRef ds:uri="55434470-2595-4bab-b7fc-5caad97e1323"/>
    <ds:schemaRef ds:uri="9a97c3fd-294e-4dde-8fbb-1ad43d0f24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B2B7A54-501E-40CF-9CB6-D8B8C2F5996A}">
  <ds:schemaRefs>
    <ds:schemaRef ds:uri="55434470-2595-4bab-b7fc-5caad97e1323"/>
    <ds:schemaRef ds:uri="9a97c3fd-294e-4dde-8fbb-1ad43d0f24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27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subject>PptxGenJS Presentation</dc:subject>
  <dc:creator>Steinbeis University</dc:creator>
  <cp:revision>23</cp:revision>
  <dcterms:created xsi:type="dcterms:W3CDTF">2026-04-28T13:50:49Z</dcterms:created>
  <dcterms:modified xsi:type="dcterms:W3CDTF">2026-04-29T06:33:44Z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0x010100856E8F46E44E5B4E8611BB0165D562BD</vt:lpwstr>
  </property>
  <property fmtid="{D5CDD505-2E9C-101B-9397-08002B2CF9AE}" pid="3" name="MediaServiceImageTags">
    <vt:lpwstr/>
  </property>
</Properties>
</file>